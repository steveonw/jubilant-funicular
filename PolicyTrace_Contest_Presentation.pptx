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0" dt="2026-09-25T21:49:31.400"/>
    <p1510:client id="{0A23754F-E041-454C-50A3-4B397C5BFB09}" v="60" dt="2026-09-25T22:57:45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A287A-1890-47D3-B95E-B86B3136199D}" type="datetimeFigureOut"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55EA-F9C6-4BC4-B6C0-0B7D05FD77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9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title and product screenshots from the user-provided PolicyTrace build 27 artifacts and live demo screenshots.
- Microsoft Foundry deployment/model and build validation from the live rehearsal captured in the AI handoff and Foundry monitor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Innovation Studio challenge PDF: “Policy and Public Sentiment Analyst” challenge description says analysts must assess proposed laws and regulations while understanding responses across documents, comments, news, correspondence, call-center transcripts, surveys, and social platforms; it notes manual review can take weeks and sentiment scores may obscure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Product workflow and invariant from user-provided PolicyTrace handoff and final approved demo artifacts.
- Microsoft Foundry use is supported by the live Foundry monitor screenshot and successful PolicyTrace run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based on PolicyTrace source package, intake, verification, human review, Leadership Report, and Evidence Audit Log behavior demonstrated in the live run.
- Data sources align with Innovation Studio challenge resources: Regulations.gov API, Federal Register, GovInfo, GDELT Project, Microsoft Foundry, Azure AI Search, and related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Microsoft Foundry monitor screenshot from user-provided “Microsoft Foundrytokens.pdf” showing 109 requests, 424.56K total tokens, 320.46K input tokens, and 104.11K output tokens.
- PolicyTrace live demo run used provider Microsoft Foundry with deployment/model gpt-5-mini, according to user-provided live rehearsal artifacts and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PolicyTrace intake screenshots and saved project JSON from the approved rehearsal: primary_document_number 2025-00636, docket_id BIS-2025-0001, comment_sampling_method random, comment_sampling_seed 1953583223, report_standard balanced, and related source options 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Live demo screenshot showing a supported finding and the “WHERE THIS COMES FROM” evidence panel for Federal Register document 2025-00636.
- Live demo screenshot showing the original Federal Register page for “Framework for Artificial Intelligence Diffusion.”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Live demo screenshots showing a partially supported claim in PolicyTrace and a no-source finding where semantic verification was not attempted because the citation-integrity gate failed.
- Evidence Audit Log from the approved run records claim-understanding-014 as needs_human_review, report promotion BLOCKED, and evidence receipts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Leadership Report PDF shows the report is approved, includes reviewed evidence-backed findings, and records withheld findings in the Review limitations section.
- Final Evidence Audit Log PDF shows final human review status approved and preserves the blocked flagged finding plus the final approval acknowledgement.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Official Rules PDF: judging criteria are 25% Solution Performance, 25% Innovation, 25% Economic Value &amp; Societal Impact, and 25% Feasibility.
- Blind AI review notes from the user-provided pasted text identified the Evidence Audit Log as strong and flagged future improvements around partially supported wording, status/freshness nuance, source-specific comment retrieval, and leadership-report concision.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669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PolicyTrace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21792" y="1143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B7C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policy intelligence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0749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regulations, comments, news, and public feedback into traceable, reviewable leadership briefs.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2103120" cy="310896"/>
          </a:xfrm>
          <a:prstGeom prst="rect">
            <a:avLst/>
          </a:prstGeom>
          <a:solidFill>
            <a:srgbClr val="123B55"/>
          </a:solidFill>
          <a:ln>
            <a:solidFill>
              <a:srgbClr val="123B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F4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 + GPT-5 mini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3127248"/>
            <a:ext cx="1783080" cy="310896"/>
          </a:xfrm>
          <a:prstGeom prst="rect">
            <a:avLst/>
          </a:prstGeom>
          <a:solidFill>
            <a:srgbClr val="123B55"/>
          </a:solidFill>
          <a:ln>
            <a:solidFill>
              <a:srgbClr val="123B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F4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27 validated live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0" y="640080"/>
            <a:ext cx="562356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9050" dist="50800" dir="2700000" algn="bl" rotWithShape="0">
              <a:srgbClr val="AAB5C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60533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for video entry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7A1C30-C3D0-093B-4295-52A79E170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118" y="641686"/>
            <a:ext cx="5627740" cy="5344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07E593-4230-2BD6-87DB-029A1528A05A}"/>
              </a:ext>
            </a:extLst>
          </p:cNvPr>
          <p:cNvGrpSpPr/>
          <p:nvPr/>
        </p:nvGrpSpPr>
        <p:grpSpPr>
          <a:xfrm>
            <a:off x="2632189" y="604627"/>
            <a:ext cx="7223760" cy="5102352"/>
            <a:chOff x="516636" y="384048"/>
            <a:chExt cx="7223760" cy="5102352"/>
          </a:xfrm>
        </p:grpSpPr>
        <p:sp>
          <p:nvSpPr>
            <p:cNvPr id="2" name="Text 0"/>
            <p:cNvSpPr/>
            <p:nvPr/>
          </p:nvSpPr>
          <p:spPr>
            <a:xfrm>
              <a:off x="651991" y="384048"/>
              <a:ext cx="6949440" cy="457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900" b="1" dirty="0">
                  <a:solidFill>
                    <a:srgbClr val="10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The challenge: trusted policy insight is slow</a:t>
              </a:r>
              <a:endParaRPr lang="en-US" sz="29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16636" y="877824"/>
              <a:ext cx="7223760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66708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The contest challenge asks for transparent, evidence-grounded policy insights across policy text, comments, news, and public feedback.</a:t>
              </a:r>
              <a:endParaRPr lang="en-US" sz="12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065702" y="1325880"/>
              <a:ext cx="41148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80" b="1" dirty="0">
                  <a:solidFill>
                    <a:srgbClr val="16B8A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CHALLENGE FIT</a:t>
              </a:r>
              <a:endParaRPr lang="en-US" sz="88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744860" y="1600200"/>
              <a:ext cx="47548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0203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Analysts need more than a summary.</a:t>
              </a:r>
              <a:endParaRPr lang="en-US" sz="25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679689" y="2240280"/>
              <a:ext cx="4892040" cy="18288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1020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Policy evidence is scattered across official text, public comments, news, correspondence, surveys, and social platforms.
• Manual review can take weeks.
• Simple sentiment scores hide why people support, oppose, question, or misunderstand a policy.
</a:t>
              </a:r>
              <a:endParaRPr lang="en-US" sz="13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749873" y="4572000"/>
              <a:ext cx="4754880" cy="9144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6B8A6"/>
              </a:solidFill>
            </a:ln>
          </p:spPr>
          <p:txBody>
            <a:bodyPr wrap="square" lIns="1524" tIns="1524" rIns="1524" bIns="152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0203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PolicyTrace turns that mess into a traceable evidence package - before any finding reaches leadership.</a:t>
              </a:r>
              <a:endParaRPr lang="en-US" sz="15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Solution: make every AI claim inspectable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 shifts the user experience from “trust the AI” to “inspect the evidence trail.”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20240" y="2971800"/>
            <a:ext cx="1600200" cy="0"/>
          </a:xfrm>
          <a:prstGeom prst="line">
            <a:avLst/>
          </a:prstGeom>
          <a:noFill/>
          <a:ln w="1651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971800"/>
            <a:ext cx="1554480" cy="0"/>
          </a:xfrm>
          <a:prstGeom prst="line">
            <a:avLst/>
          </a:prstGeom>
          <a:noFill/>
          <a:ln w="1651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2971800"/>
            <a:ext cx="1508760" cy="0"/>
          </a:xfrm>
          <a:prstGeom prst="line">
            <a:avLst/>
          </a:prstGeom>
          <a:noFill/>
          <a:ln w="1651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source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246120" y="233172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897880" y="233172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549640" y="233172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Human-reviewed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59536" y="379476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6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859536" y="4297680"/>
            <a:ext cx="1188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72200" y="379476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6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6172200" y="4297680"/>
            <a:ext cx="1188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against text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379476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6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8823960" y="4297680"/>
            <a:ext cx="1188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approval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0" y="5303520"/>
            <a:ext cx="2926080" cy="310896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 preserves every reviewed claim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invariant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87168" y="5715000"/>
            <a:ext cx="8732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important claim without evidence. No evidence without a support check. No final report without human approval.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source-first, model-second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gathers deterministic source receipts before asking the model to produce or verify claims.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88920" y="1965960"/>
            <a:ext cx="1783080" cy="0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3017520"/>
            <a:ext cx="1783080" cy="0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4069080"/>
            <a:ext cx="1783080" cy="0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0" y="3017520"/>
            <a:ext cx="1417320" cy="0"/>
          </a:xfrm>
          <a:prstGeom prst="line">
            <a:avLst/>
          </a:prstGeom>
          <a:noFill/>
          <a:ln w="1651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870227" y="2077052"/>
            <a:ext cx="302634" cy="671763"/>
          </a:xfrm>
          <a:prstGeom prst="line">
            <a:avLst/>
          </a:prstGeom>
          <a:noFill/>
          <a:ln w="1651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20358" y="3456671"/>
            <a:ext cx="312660" cy="582331"/>
          </a:xfrm>
          <a:prstGeom prst="line">
            <a:avLst/>
          </a:prstGeom>
          <a:noFill/>
          <a:ln w="1651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" y="1508760"/>
            <a:ext cx="1920240" cy="777240"/>
          </a:xfrm>
          <a:prstGeom prst="rect">
            <a:avLst/>
          </a:prstGeom>
          <a:solidFill>
            <a:srgbClr val="E8F1FF"/>
          </a:solidFill>
          <a:ln w="12700">
            <a:solidFill>
              <a:srgbClr val="1F6F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Register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GovInfo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85800" y="2560320"/>
            <a:ext cx="1920240" cy="777240"/>
          </a:xfrm>
          <a:prstGeom prst="rect">
            <a:avLst/>
          </a:prstGeom>
          <a:solidFill>
            <a:srgbClr val="E8F1FF"/>
          </a:solidFill>
          <a:ln w="12700">
            <a:solidFill>
              <a:srgbClr val="1F6F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Regulations.gov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1920240" cy="777240"/>
          </a:xfrm>
          <a:prstGeom prst="rect">
            <a:avLst/>
          </a:prstGeom>
          <a:solidFill>
            <a:srgbClr val="E8F1FF"/>
          </a:solidFill>
          <a:ln w="12700">
            <a:solidFill>
              <a:srgbClr val="1F6F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GDELT / media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2148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B8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package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498080" y="2423160"/>
            <a:ext cx="2331720" cy="1234440"/>
          </a:xfrm>
          <a:prstGeom prst="rect">
            <a:avLst/>
          </a:prstGeom>
          <a:solidFill>
            <a:srgbClr val="F0EDFF"/>
          </a:solidFill>
          <a:ln w="12700">
            <a:solidFill>
              <a:srgbClr val="7867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GPT-5 mini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0287000" y="1325880"/>
            <a:ext cx="1417320" cy="914400"/>
          </a:xfrm>
          <a:prstGeom prst="rect">
            <a:avLst/>
          </a:prstGeom>
          <a:solidFill>
            <a:srgbClr val="E8F7F2"/>
          </a:solidFill>
          <a:ln w="12700">
            <a:solidFill>
              <a:srgbClr val="10A37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0287000" y="3794760"/>
            <a:ext cx="1417320" cy="914400"/>
          </a:xfrm>
          <a:prstGeom prst="rect">
            <a:avLst/>
          </a:prstGeom>
          <a:solidFill>
            <a:srgbClr val="FFF4DA"/>
          </a:solidFill>
          <a:ln w="12700">
            <a:solidFill>
              <a:srgbClr val="F5A5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notes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" y="5413248"/>
            <a:ext cx="104241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and intake are non-AI source-building steps.
• Docket detection is conservative; comments are loaded only from a confirmed docket.
• Verification labels stay separate from model confidence.
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Microsoft Foundry integration was proven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rehearsal used a real Foundry deployment, not a mocked model response.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76072" y="1307592"/>
            <a:ext cx="6126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9050" dist="50800" dir="2700000" algn="bl" rotWithShape="0">
              <a:srgbClr val="AAB5C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" y="5897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monitor after rehearsal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78040" y="1600200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7867E6"/>
                </a:solidFill>
                <a:latin typeface="Aptos Display"/>
              </a:rPr>
              <a:t>361</a:t>
            </a:r>
          </a:p>
        </p:txBody>
      </p:sp>
      <p:sp>
        <p:nvSpPr>
          <p:cNvPr id="10" name="Text 7"/>
          <p:cNvSpPr/>
          <p:nvPr/>
        </p:nvSpPr>
        <p:spPr>
          <a:xfrm>
            <a:off x="7178040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732520" y="16002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7867E6"/>
                </a:solidFill>
                <a:latin typeface="Aptos Display"/>
              </a:rPr>
              <a:t>1.34M</a:t>
            </a:r>
          </a:p>
        </p:txBody>
      </p:sp>
      <p:sp>
        <p:nvSpPr>
          <p:cNvPr id="12" name="Text 9"/>
          <p:cNvSpPr/>
          <p:nvPr/>
        </p:nvSpPr>
        <p:spPr>
          <a:xfrm>
            <a:off x="8732520" y="2103120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tokens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086600" y="29718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6B8A6"/>
                </a:solidFill>
                <a:latin typeface="Aptos Display"/>
              </a:rPr>
              <a:t>1.03M</a:t>
            </a:r>
          </a:p>
        </p:txBody>
      </p:sp>
      <p:sp>
        <p:nvSpPr>
          <p:cNvPr id="14" name="Text 11"/>
          <p:cNvSpPr/>
          <p:nvPr/>
        </p:nvSpPr>
        <p:spPr>
          <a:xfrm>
            <a:off x="7086600" y="3474720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tokens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23960" y="297180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6B8A6"/>
                </a:solidFill>
                <a:latin typeface="Aptos Display"/>
              </a:rPr>
              <a:t>305.49K</a:t>
            </a:r>
          </a:p>
        </p:txBody>
      </p:sp>
      <p:sp>
        <p:nvSpPr>
          <p:cNvPr id="16" name="Text 13"/>
          <p:cNvSpPr/>
          <p:nvPr/>
        </p:nvSpPr>
        <p:spPr>
          <a:xfrm>
            <a:off x="8823960" y="3474720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tokens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86600" y="4572000"/>
            <a:ext cx="40233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7867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matters: the same model that generated findings also produced enough traceable receipts for human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104E2B-572C-3F1F-BE2D-8EC796BE8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3" y="1303421"/>
            <a:ext cx="6122261" cy="44516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live demo path is deterministic and judge-friendly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0273" y="1058298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policy, one source package, one traceable review path.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06151" y="1414914"/>
            <a:ext cx="5486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9050" dist="50800" dir="2700000" algn="bl" rotWithShape="0">
              <a:srgbClr val="AAB5C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46520" y="1417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INPUT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6446520" y="1719072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Federal Register document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2025-00636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446520" y="2587752"/>
            <a:ext cx="4206240" cy="310896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for Artificial Intelligence Diffusion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Docket BIS-2025-0001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41080" y="2999232"/>
            <a:ext cx="2423160" cy="310896"/>
          </a:xfrm>
          <a:prstGeom prst="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sample seed 1953583223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3703320"/>
            <a:ext cx="43891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Current status, comments, and related media enabled.
• Balanced report standard selected.
• The UI states no AI analysis starts until the user confirms the source package.
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4052C0-CD09-790C-97CC-77EB5CE3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54" y="1413710"/>
            <a:ext cx="5590410" cy="46221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Evidence-first review: every finding is inspectable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reviewer can click a claim, inspect the exact source passage, and open the original official document.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9050" dist="50800" dir="2700000" algn="bl" rotWithShape="0">
              <a:srgbClr val="AAB5C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46520" y="1207008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9050" dist="50800" dir="2700000" algn="bl" rotWithShape="0">
              <a:srgbClr val="AAB5C0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14400" y="5879592"/>
            <a:ext cx="1554480" cy="310896"/>
          </a:xfrm>
          <a:prstGeom prst="rect">
            <a:avLst/>
          </a:prstGeom>
          <a:solidFill>
            <a:srgbClr val="E8F7F2"/>
          </a:solidFill>
          <a:ln>
            <a:solidFill>
              <a:srgbClr val="E8F7F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A3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finding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009147" y="5949776"/>
            <a:ext cx="1417320" cy="310896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passage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076799" y="5879592"/>
            <a:ext cx="2377440" cy="310896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Federal Register page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12C657-79A1-7F32-2E66-015E4A408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94" y="1211282"/>
            <a:ext cx="5895475" cy="42750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8E5EBC-4B3F-A8C4-F2EC-C53A666B5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609" y="1203158"/>
            <a:ext cx="5645440" cy="4451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verifier is allowed to disagree with the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 preserves nuance instead of forcing every claim into “true” or “false.”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30467" y="4805814"/>
            <a:ext cx="49834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A5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Partially supported: what was established, what was not established, and suggested narrower wording.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95448" y="3572978"/>
            <a:ext cx="4351823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4C6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source found: citation-integrity gate stops the claim before report promotion.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55970" y="4499811"/>
            <a:ext cx="2148840" cy="310896"/>
          </a:xfrm>
          <a:prstGeom prst="rect">
            <a:avLst/>
          </a:prstGeom>
          <a:solidFill>
            <a:srgbClr val="FFEDEF"/>
          </a:solidFill>
          <a:ln>
            <a:solidFill>
              <a:srgbClr val="FFEDE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4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flag required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FAD880-0584-B68C-A4BA-AB79C8D22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86" y="1405440"/>
            <a:ext cx="5360068" cy="30946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644DBE-7BAF-F94B-1889-4D93CF1BE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283" y="1510718"/>
            <a:ext cx="6423861" cy="1921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outputs: a leadership brief and a receipt layer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Leadership Report is concise; the Evidence Audit Log preserves the full review record.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52728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  <a:effectLst>
            <a:outerShdw blurRad="19050" dist="50800" dir="2700000" algn="bl" rotWithShape="0">
              <a:srgbClr val="AAB5C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508760"/>
            <a:ext cx="2011680" cy="914400"/>
          </a:xfrm>
          <a:prstGeom prst="rect">
            <a:avLst/>
          </a:prstGeom>
          <a:solidFill>
            <a:srgbClr val="E8F7F2"/>
          </a:solidFill>
          <a:ln w="12700">
            <a:solidFill>
              <a:srgbClr val="10A37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Report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findings only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686800" y="1508760"/>
            <a:ext cx="2011680" cy="914400"/>
          </a:xfrm>
          <a:prstGeom prst="rect">
            <a:avLst/>
          </a:prstGeom>
          <a:solidFill>
            <a:srgbClr val="FFF4DA"/>
          </a:solidFill>
          <a:ln w="12700">
            <a:solidFill>
              <a:srgbClr val="F5A5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Audit Log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reviewed claims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8092440" y="1965960"/>
            <a:ext cx="594360" cy="0"/>
          </a:xfrm>
          <a:prstGeom prst="line">
            <a:avLst/>
          </a:prstGeom>
          <a:noFill/>
          <a:ln w="1651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6080760" y="2834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approved rehearsal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26480" y="3337560"/>
            <a:ext cx="470916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human review status: approved.
• 2 findings withheld from normal leadership promotion.
• Flagged claim remains visible in the audit log with no evidence receipt.
• Stable claim IDs link report bullets to evidence receipts.
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5349240"/>
            <a:ext cx="43891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6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disappears because the AI was wrong.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880EF7-FD0F-4737-51C9-49BC8197D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99" y="1253288"/>
            <a:ext cx="5105466" cy="5083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and next steps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223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 is built to be useful, auditable, and realistic to scale.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55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PolicyTrace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JUDGING FIT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011680" cy="960120"/>
          </a:xfrm>
          <a:prstGeom prst="rect">
            <a:avLst/>
          </a:prstGeom>
          <a:solidFill>
            <a:srgbClr val="E8F1FF"/>
          </a:solidFill>
          <a:ln w="12700">
            <a:solidFill>
              <a:srgbClr val="1F6F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end-to-end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2971800" y="1691640"/>
            <a:ext cx="2011680" cy="960120"/>
          </a:xfrm>
          <a:prstGeom prst="rect">
            <a:avLst/>
          </a:prstGeom>
          <a:solidFill>
            <a:srgbClr val="E8F7F2"/>
          </a:solidFill>
          <a:ln w="12700">
            <a:solidFill>
              <a:srgbClr val="10A37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evidence-first AI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303520" y="1691640"/>
            <a:ext cx="2011680" cy="960120"/>
          </a:xfrm>
          <a:prstGeom prst="rect">
            <a:avLst/>
          </a:prstGeom>
          <a:solidFill>
            <a:srgbClr val="FFF4DA"/>
          </a:solidFill>
          <a:ln w="12700">
            <a:solidFill>
              <a:srgbClr val="F5A5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policy briefs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635240" y="1691640"/>
            <a:ext cx="2011680" cy="960120"/>
          </a:xfrm>
          <a:prstGeom prst="rect">
            <a:avLst/>
          </a:prstGeom>
          <a:solidFill>
            <a:srgbClr val="F0EDFF"/>
          </a:solidFill>
          <a:ln w="12700">
            <a:solidFill>
              <a:srgbClr val="7867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 + APIs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learned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51206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audit log is the core product strength: reviewers can inspect every claim.
• Leadership summaries should inherit caution from the verifier, not smooth it away.
• Source-specific connectors matter: FCC ECFS is a future priority beyond Regulations.gov.
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Near-term roadmap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3749040"/>
            <a:ext cx="49377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Auto-promote verifier narrower wording for partially supported claims.
• Add ECFS retrieval for FCC comments.
• Improve status/freshness checks by agency-specific identifiers.
• Package clean demo repo, video, and PowerPoint for submission.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do not have to trust the AI - here is the evidence trail.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7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PolicyTrace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PolicyTrace - Evidence-Grounded Policy Intelligence</dc:title>
  <dc:subject>Microsoft and CCI Innovation Challenge for VA</dc:subject>
  <dc:creator>PolicyTrace</dc:creator>
  <cp:lastModifiedBy>PolicyTrace</cp:lastModifiedBy>
  <cp:revision>113</cp:revision>
  <dcterms:created xsi:type="dcterms:W3CDTF">2026-09-25T20:47:57Z</dcterms:created>
  <dcterms:modified xsi:type="dcterms:W3CDTF">2026-09-26T00:52:02Z</dcterms:modified>
</cp:coreProperties>
</file>